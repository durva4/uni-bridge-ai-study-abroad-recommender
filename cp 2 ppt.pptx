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3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3F6C-33D4-DBAD-4FF7-E9E7F1B8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8EE4F-5036-654E-02AC-0334FD4AD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75084-FCCD-C046-4FE0-4926748F8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5D857-972D-27EF-55E2-A800716B22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45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8FA2E-4585-E337-F56B-F0A50F5D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588BC-FC41-FCDD-F16D-8EBAA7C7D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74E8A-13C1-03FE-ECBE-F0148B407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FE41A-56B8-6027-575B-7477289F7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61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4498A-9948-D4CB-B91D-396DDD943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4107F-722D-B828-9AC4-69B8FB096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AD33F-AC90-811D-08FA-C59638A06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71BFA-262D-F45E-450B-38AC1F732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51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5.png"/><Relationship Id="rId5" Type="http://schemas.openxmlformats.org/officeDocument/2006/relationships/image" Target="../media/image5.png"/><Relationship Id="rId10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10" Type="http://schemas.openxmlformats.org/officeDocument/2006/relationships/image" Target="../media/image3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442271" y="-304038"/>
            <a:ext cx="6400800" cy="41148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457200" y="347472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7200"/>
            <a:ext cx="320040" cy="40233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005840"/>
            <a:ext cx="256032" cy="32004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645920"/>
            <a:ext cx="274320" cy="347472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286000"/>
            <a:ext cx="228600" cy="283464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108960"/>
            <a:ext cx="292608" cy="36576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6126480" y="658368"/>
            <a:ext cx="1828800" cy="118872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5"/>
          <p:cNvSpPr/>
          <p:nvPr/>
        </p:nvSpPr>
        <p:spPr>
          <a:xfrm>
            <a:off x="7132320" y="1325880"/>
            <a:ext cx="1371600" cy="91440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200000">
            <a:off x="7772400" y="502920"/>
            <a:ext cx="502920" cy="502920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548640" y="34747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EA5E9">
              <a:alpha val="22000"/>
            </a:srgbClr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7"/>
          <p:cNvSpPr/>
          <p:nvPr/>
        </p:nvSpPr>
        <p:spPr>
          <a:xfrm>
            <a:off x="548640" y="347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2</a:t>
            </a:r>
            <a:endParaRPr lang="en-US" sz="8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822960"/>
            <a:ext cx="502920" cy="50292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48640" y="12984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20" name="Text 9"/>
          <p:cNvSpPr/>
          <p:nvPr/>
        </p:nvSpPr>
        <p:spPr>
          <a:xfrm>
            <a:off x="548640" y="2050899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Study Abroad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548640" y="2724912"/>
            <a:ext cx="1005840" cy="310896"/>
          </a:xfrm>
          <a:prstGeom prst="rect">
            <a:avLst/>
          </a:prstGeom>
          <a:solidFill>
            <a:srgbClr val="0EA5E9">
              <a:alpha val="22000"/>
            </a:srgbClr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1"/>
          <p:cNvSpPr/>
          <p:nvPr/>
        </p:nvSpPr>
        <p:spPr>
          <a:xfrm>
            <a:off x="548640" y="2724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3" name="Shape 12"/>
          <p:cNvSpPr/>
          <p:nvPr/>
        </p:nvSpPr>
        <p:spPr>
          <a:xfrm>
            <a:off x="1719072" y="2724912"/>
            <a:ext cx="1005840" cy="310896"/>
          </a:xfrm>
          <a:prstGeom prst="rect">
            <a:avLst/>
          </a:prstGeom>
          <a:solidFill>
            <a:srgbClr val="0D9488">
              <a:alpha val="22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3"/>
          <p:cNvSpPr/>
          <p:nvPr/>
        </p:nvSpPr>
        <p:spPr>
          <a:xfrm>
            <a:off x="1719072" y="2724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2889504" y="2724912"/>
            <a:ext cx="1005840" cy="310896"/>
          </a:xfrm>
          <a:prstGeom prst="rect">
            <a:avLst/>
          </a:prstGeom>
          <a:solidFill>
            <a:srgbClr val="F59E0B">
              <a:alpha val="22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5"/>
          <p:cNvSpPr/>
          <p:nvPr/>
        </p:nvSpPr>
        <p:spPr>
          <a:xfrm>
            <a:off x="2889504" y="2724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548640" y="3200400"/>
            <a:ext cx="4846320" cy="18288"/>
          </a:xfrm>
          <a:prstGeom prst="rect">
            <a:avLst/>
          </a:prstGeom>
          <a:solidFill>
            <a:srgbClr val="BFD9F0">
              <a:alpha val="70000"/>
            </a:srgbClr>
          </a:solidFill>
          <a:ln w="12700">
            <a:solidFill>
              <a:srgbClr val="BFD9F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337560"/>
            <a:ext cx="438912" cy="43891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274320" y="465644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 PALKAR</a:t>
            </a:r>
            <a:endParaRPr lang="en-US" sz="16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4206240"/>
            <a:ext cx="640080" cy="64008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5928B40-4FE9-B36B-0247-8BDFFE23FFAE}"/>
              </a:ext>
            </a:extLst>
          </p:cNvPr>
          <p:cNvSpPr/>
          <p:nvPr/>
        </p:nvSpPr>
        <p:spPr>
          <a:xfrm>
            <a:off x="548640" y="1365099"/>
            <a:ext cx="524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BRIDGE  </a:t>
            </a:r>
          </a:p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 To Your Dream Universities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640"/>
            <a:ext cx="9144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2960"/>
            <a:ext cx="9144000" cy="36576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028" y="76153"/>
            <a:ext cx="547141" cy="547141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67274" y="329184"/>
            <a:ext cx="7315200" cy="0"/>
          </a:xfrm>
          <a:prstGeom prst="line">
            <a:avLst/>
          </a:prstGeom>
          <a:noFill/>
          <a:ln w="10160">
            <a:solidFill>
              <a:srgbClr val="FFFFFF">
                <a:alpha val="35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2"/>
          <p:cNvSpPr/>
          <p:nvPr/>
        </p:nvSpPr>
        <p:spPr>
          <a:xfrm>
            <a:off x="457200" y="73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 STATEMENT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457200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Struggle to Choose?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365760" y="1298448"/>
            <a:ext cx="2697480" cy="3017520"/>
          </a:xfrm>
          <a:prstGeom prst="rect">
            <a:avLst/>
          </a:prstGeom>
          <a:solidFill>
            <a:srgbClr val="FFFFFF"/>
          </a:solidFill>
          <a:ln w="2286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365760" y="1298448"/>
            <a:ext cx="26974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353312" y="1444752"/>
            <a:ext cx="713232" cy="713232"/>
          </a:xfrm>
          <a:prstGeom prst="ellipse">
            <a:avLst/>
          </a:prstGeom>
          <a:solidFill>
            <a:srgbClr val="0EA5E9">
              <a:alpha val="18000"/>
            </a:srgbClr>
          </a:solidFill>
          <a:ln w="19050">
            <a:solidFill>
              <a:srgbClr val="0EA5E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1554480"/>
            <a:ext cx="502920" cy="50292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0048" y="1371600"/>
            <a:ext cx="256032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5488" y="223113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Confusion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93776" y="2706624"/>
            <a:ext cx="2450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destinations worldwide — each with unique tuition, culture, visa rules, and rankings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3246120" y="1298448"/>
            <a:ext cx="2697480" cy="3017520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0"/>
          <p:cNvSpPr/>
          <p:nvPr/>
        </p:nvSpPr>
        <p:spPr>
          <a:xfrm>
            <a:off x="3246120" y="1298448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1"/>
          <p:cNvSpPr/>
          <p:nvPr/>
        </p:nvSpPr>
        <p:spPr>
          <a:xfrm>
            <a:off x="4233672" y="1444752"/>
            <a:ext cx="713232" cy="713232"/>
          </a:xfrm>
          <a:prstGeom prst="ellipse">
            <a:avLst/>
          </a:prstGeom>
          <a:solidFill>
            <a:srgbClr val="F59E0B">
              <a:alpha val="18000"/>
            </a:srgbClr>
          </a:solidFill>
          <a:ln w="1905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1554480"/>
            <a:ext cx="502920" cy="502920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0408" y="1371600"/>
            <a:ext cx="256032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355848" y="223113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Complexity</a:t>
            </a:r>
            <a:endParaRPr lang="en-US" sz="1350" dirty="0"/>
          </a:p>
        </p:txBody>
      </p:sp>
      <p:sp>
        <p:nvSpPr>
          <p:cNvPr id="22" name="Text 13"/>
          <p:cNvSpPr/>
          <p:nvPr/>
        </p:nvSpPr>
        <p:spPr>
          <a:xfrm>
            <a:off x="3374136" y="2706624"/>
            <a:ext cx="2450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tuition, living costs, scholarships &amp; currency differences is overwhelming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6126480" y="1298448"/>
            <a:ext cx="2697480" cy="3017520"/>
          </a:xfrm>
          <a:prstGeom prst="rect">
            <a:avLst/>
          </a:prstGeom>
          <a:solidFill>
            <a:srgbClr val="FFFFFF"/>
          </a:solidFill>
          <a:ln w="2286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5"/>
          <p:cNvSpPr/>
          <p:nvPr/>
        </p:nvSpPr>
        <p:spPr>
          <a:xfrm>
            <a:off x="6126480" y="129844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6"/>
          <p:cNvSpPr/>
          <p:nvPr/>
        </p:nvSpPr>
        <p:spPr>
          <a:xfrm>
            <a:off x="7114032" y="1444752"/>
            <a:ext cx="713232" cy="713232"/>
          </a:xfrm>
          <a:prstGeom prst="ellipse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760" y="1554480"/>
            <a:ext cx="502920" cy="50292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0768" y="1371600"/>
            <a:ext cx="256032" cy="32004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236208" y="223113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350" dirty="0"/>
          </a:p>
        </p:txBody>
      </p:sp>
      <p:sp>
        <p:nvSpPr>
          <p:cNvPr id="29" name="Text 18"/>
          <p:cNvSpPr/>
          <p:nvPr/>
        </p:nvSpPr>
        <p:spPr>
          <a:xfrm>
            <a:off x="6254496" y="2706624"/>
            <a:ext cx="2450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rankings ignore a student's GPA, test scores, field of study &amp; preferences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4572000"/>
            <a:ext cx="320040" cy="32004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914400" y="449884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intelligent, data-driven, personalized guidance — not just generic rankings.</a:t>
            </a:r>
            <a:endParaRPr lang="en-US" sz="1150" dirty="0"/>
          </a:p>
        </p:txBody>
      </p:sp>
      <p:sp>
        <p:nvSpPr>
          <p:cNvPr id="33" name="Text 2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SOLUTION OVERVIEW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Recommendation Engine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3767328" y="1298448"/>
            <a:ext cx="1600200" cy="1600200"/>
          </a:xfrm>
          <a:prstGeom prst="ellipse">
            <a:avLst/>
          </a:prstGeom>
          <a:solidFill>
            <a:srgbClr val="0EA5E9">
              <a:alpha val="22000"/>
            </a:srgbClr>
          </a:solidFill>
          <a:ln w="25400">
            <a:solidFill>
              <a:srgbClr val="0EA5E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1527048"/>
            <a:ext cx="1143000" cy="1143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54480" y="2103120"/>
            <a:ext cx="2212848" cy="0"/>
          </a:xfrm>
          <a:prstGeom prst="line">
            <a:avLst/>
          </a:prstGeom>
          <a:noFill/>
          <a:ln w="19050">
            <a:solidFill>
              <a:srgbClr val="2A509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5367528" y="2103120"/>
            <a:ext cx="2212848" cy="0"/>
          </a:xfrm>
          <a:prstGeom prst="line">
            <a:avLst/>
          </a:prstGeom>
          <a:noFill/>
          <a:ln w="19050">
            <a:solidFill>
              <a:srgbClr val="2A509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572000" y="2898648"/>
            <a:ext cx="0" cy="822960"/>
          </a:xfrm>
          <a:prstGeom prst="line">
            <a:avLst/>
          </a:prstGeom>
          <a:noFill/>
          <a:ln w="19050">
            <a:solidFill>
              <a:srgbClr val="2A509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47472" y="1463040"/>
            <a:ext cx="1207008" cy="1298448"/>
          </a:xfrm>
          <a:prstGeom prst="rect">
            <a:avLst/>
          </a:prstGeom>
          <a:solidFill>
            <a:srgbClr val="0D2240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47472" y="1463040"/>
            <a:ext cx="1207008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1572768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" y="21945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589520" y="1463040"/>
            <a:ext cx="1207008" cy="1298448"/>
          </a:xfrm>
          <a:prstGeom prst="rect">
            <a:avLst/>
          </a:prstGeom>
          <a:solidFill>
            <a:srgbClr val="0D2240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7589520" y="1463040"/>
            <a:ext cx="1207008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572768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89520" y="21945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767328" y="3858768"/>
            <a:ext cx="1600200" cy="868680"/>
          </a:xfrm>
          <a:prstGeom prst="rect">
            <a:avLst/>
          </a:prstGeom>
          <a:solidFill>
            <a:srgbClr val="0D224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3767328" y="3858768"/>
            <a:ext cx="1600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6824" y="3950208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67328" y="446227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347472" y="3154680"/>
            <a:ext cx="1938528" cy="475488"/>
          </a:xfrm>
          <a:prstGeom prst="rect">
            <a:avLst/>
          </a:prstGeom>
          <a:solidFill>
            <a:srgbClr val="0EA5E9">
              <a:alpha val="18000"/>
            </a:srgbClr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/>
          <p:nvPr/>
        </p:nvSpPr>
        <p:spPr>
          <a:xfrm>
            <a:off x="347472" y="315468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2496312" y="3154680"/>
            <a:ext cx="1938528" cy="475488"/>
          </a:xfrm>
          <a:prstGeom prst="rect">
            <a:avLst/>
          </a:prstGeom>
          <a:solidFill>
            <a:srgbClr val="0D9488">
              <a:alpha val="18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/>
          <p:nvPr/>
        </p:nvSpPr>
        <p:spPr>
          <a:xfrm>
            <a:off x="2496312" y="315468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645152" y="3154680"/>
            <a:ext cx="1938528" cy="475488"/>
          </a:xfrm>
          <a:prstGeom prst="rect">
            <a:avLst/>
          </a:prstGeom>
          <a:solidFill>
            <a:srgbClr val="7B5CFA">
              <a:alpha val="18000"/>
            </a:srgbClr>
          </a:solidFill>
          <a:ln w="1905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4645152" y="315468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793992" y="3154680"/>
            <a:ext cx="1938528" cy="475488"/>
          </a:xfrm>
          <a:prstGeom prst="rect">
            <a:avLst/>
          </a:prstGeom>
          <a:solidFill>
            <a:srgbClr val="F59E0B">
              <a:alpha val="18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/>
          <p:nvPr/>
        </p:nvSpPr>
        <p:spPr>
          <a:xfrm>
            <a:off x="6793992" y="315468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Coverage</a:t>
            </a:r>
            <a:endParaRPr lang="en-US" sz="11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3368" y="1404847"/>
            <a:ext cx="115931" cy="147548"/>
          </a:xfrm>
          <a:prstGeom prst="rect">
            <a:avLst/>
          </a:prstGeom>
        </p:spPr>
      </p:pic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536" y="2640472"/>
            <a:ext cx="164592" cy="201168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1645920"/>
            <a:ext cx="182880" cy="228600"/>
          </a:xfrm>
          <a:prstGeom prst="rect">
            <a:avLst/>
          </a:prstGeom>
        </p:spPr>
      </p:pic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640080"/>
            <a:ext cx="164592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"/>
            <a:ext cx="9144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4672"/>
            <a:ext cx="9144000" cy="3474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731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METHODOLOGY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Pipeline</a:t>
            </a:r>
            <a:endParaRPr lang="en-US" sz="2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000000">
            <a:off x="8138160" y="274320"/>
            <a:ext cx="457200" cy="4572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65760" y="1170432"/>
            <a:ext cx="2633472" cy="1325880"/>
          </a:xfrm>
          <a:prstGeom prst="rect">
            <a:avLst/>
          </a:prstGeom>
          <a:solidFill>
            <a:srgbClr val="FFFFFF"/>
          </a:solidFill>
          <a:ln w="2032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365760" y="1170432"/>
            <a:ext cx="2633472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457200" y="1261872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45720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377440" y="1243584"/>
            <a:ext cx="548640" cy="54864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1448" y="1307592"/>
            <a:ext cx="420624" cy="4206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4632" y="1696212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(Kaggle)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Synthetic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Creation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3037637" y="1815084"/>
            <a:ext cx="179222" cy="3657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 rot="2700000">
            <a:off x="3125419" y="1751076"/>
            <a:ext cx="91440" cy="8229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 rot="-2700000">
            <a:off x="3125419" y="1851660"/>
            <a:ext cx="91440" cy="8229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3255264" y="1170432"/>
            <a:ext cx="2633472" cy="1325880"/>
          </a:xfrm>
          <a:prstGeom prst="rect">
            <a:avLst/>
          </a:prstGeom>
          <a:solidFill>
            <a:srgbClr val="FFFFFF"/>
          </a:solidFill>
          <a:ln w="2032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3255264" y="1170432"/>
            <a:ext cx="263347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3346704" y="126187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3346704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266944" y="1243584"/>
            <a:ext cx="548640" cy="54864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1307592"/>
            <a:ext cx="420624" cy="4206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346704" y="171907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927141" y="1815084"/>
            <a:ext cx="179222" cy="3657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 rot="2700000">
            <a:off x="6014923" y="1751076"/>
            <a:ext cx="91440" cy="8229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 rot="-2700000">
            <a:off x="6014923" y="1851660"/>
            <a:ext cx="91440" cy="8229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144768" y="1170432"/>
            <a:ext cx="2633472" cy="1325880"/>
          </a:xfrm>
          <a:prstGeom prst="rect">
            <a:avLst/>
          </a:prstGeom>
          <a:solidFill>
            <a:srgbClr val="FFFFFF"/>
          </a:solidFill>
          <a:ln w="20320">
            <a:solidFill>
              <a:srgbClr val="7B5CFA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6144768" y="1170432"/>
            <a:ext cx="2633472" cy="50292"/>
          </a:xfrm>
          <a:prstGeom prst="rect">
            <a:avLst/>
          </a:prstGeom>
          <a:solidFill>
            <a:srgbClr val="7B5CFA"/>
          </a:solidFill>
          <a:ln w="1270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236208" y="1261872"/>
            <a:ext cx="347472" cy="347472"/>
          </a:xfrm>
          <a:prstGeom prst="ellipse">
            <a:avLst/>
          </a:prstGeom>
          <a:solidFill>
            <a:srgbClr val="7B5CFA"/>
          </a:solidFill>
          <a:ln w="1270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/>
          <p:nvPr/>
        </p:nvSpPr>
        <p:spPr>
          <a:xfrm>
            <a:off x="623620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156448" y="1243584"/>
            <a:ext cx="548640" cy="548640"/>
          </a:xfrm>
          <a:prstGeom prst="ellipse">
            <a:avLst/>
          </a:prstGeom>
          <a:solidFill>
            <a:srgbClr val="7B5CFA">
              <a:alpha val="18000"/>
            </a:srgbClr>
          </a:solidFill>
          <a:ln w="12700">
            <a:solidFill>
              <a:srgbClr val="7B5C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0456" y="1307592"/>
            <a:ext cx="420624" cy="4206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236208" y="171907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365760" y="2788920"/>
            <a:ext cx="2633472" cy="1325880"/>
          </a:xfrm>
          <a:prstGeom prst="rect">
            <a:avLst/>
          </a:prstGeom>
          <a:solidFill>
            <a:srgbClr val="FFFFFF"/>
          </a:solidFill>
          <a:ln w="2032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365760" y="2788920"/>
            <a:ext cx="2633472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2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3"/>
          <p:cNvSpPr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2377440" y="2862072"/>
            <a:ext cx="548640" cy="54864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1448" y="2926080"/>
            <a:ext cx="420624" cy="42062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457200" y="33375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Selection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457200" y="38130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Random Forest · XGBoost ·</a:t>
            </a:r>
          </a:p>
          <a:p>
            <a:r>
              <a:rPr lang="en-US" sz="9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K- Means clustering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3037637" y="3433572"/>
            <a:ext cx="179222" cy="3657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8"/>
          <p:cNvSpPr/>
          <p:nvPr/>
        </p:nvSpPr>
        <p:spPr>
          <a:xfrm rot="2700000">
            <a:off x="3125419" y="3369564"/>
            <a:ext cx="91440" cy="8229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39"/>
          <p:cNvSpPr/>
          <p:nvPr/>
        </p:nvSpPr>
        <p:spPr>
          <a:xfrm rot="-2700000">
            <a:off x="3125419" y="3470148"/>
            <a:ext cx="91440" cy="8229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0"/>
          <p:cNvSpPr/>
          <p:nvPr/>
        </p:nvSpPr>
        <p:spPr>
          <a:xfrm>
            <a:off x="3255264" y="2788920"/>
            <a:ext cx="2633472" cy="1325880"/>
          </a:xfrm>
          <a:prstGeom prst="rect">
            <a:avLst/>
          </a:prstGeom>
          <a:solidFill>
            <a:srgbClr val="FFFFFF"/>
          </a:solidFill>
          <a:ln w="2032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1"/>
          <p:cNvSpPr/>
          <p:nvPr/>
        </p:nvSpPr>
        <p:spPr>
          <a:xfrm>
            <a:off x="3255264" y="2788920"/>
            <a:ext cx="2633472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2"/>
          <p:cNvSpPr/>
          <p:nvPr/>
        </p:nvSpPr>
        <p:spPr>
          <a:xfrm>
            <a:off x="3346704" y="288036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3"/>
          <p:cNvSpPr/>
          <p:nvPr/>
        </p:nvSpPr>
        <p:spPr>
          <a:xfrm>
            <a:off x="3346704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5266944" y="2862072"/>
            <a:ext cx="548640" cy="548640"/>
          </a:xfrm>
          <a:prstGeom prst="ellipse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0952" y="2926080"/>
            <a:ext cx="420624" cy="42062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3346704" y="33375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System</a:t>
            </a:r>
            <a:endParaRPr lang="en-US" sz="1150" dirty="0"/>
          </a:p>
        </p:txBody>
      </p:sp>
      <p:sp>
        <p:nvSpPr>
          <p:cNvPr id="56" name="Text 46"/>
          <p:cNvSpPr/>
          <p:nvPr/>
        </p:nvSpPr>
        <p:spPr>
          <a:xfrm>
            <a:off x="3346704" y="38130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+ Preference + Rank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5927141" y="3433572"/>
            <a:ext cx="179222" cy="3657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48"/>
          <p:cNvSpPr/>
          <p:nvPr/>
        </p:nvSpPr>
        <p:spPr>
          <a:xfrm rot="2700000">
            <a:off x="6014923" y="3369564"/>
            <a:ext cx="91440" cy="8229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49"/>
          <p:cNvSpPr/>
          <p:nvPr/>
        </p:nvSpPr>
        <p:spPr>
          <a:xfrm rot="-2700000">
            <a:off x="6014923" y="3470148"/>
            <a:ext cx="91440" cy="82296"/>
          </a:xfrm>
          <a:prstGeom prst="rect">
            <a:avLst/>
          </a:prstGeom>
          <a:solidFill>
            <a:srgbClr val="3B6EA8">
              <a:alpha val="60000"/>
            </a:srgbClr>
          </a:solidFill>
          <a:ln w="12700">
            <a:solidFill>
              <a:srgbClr val="3B6EA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0"/>
          <p:cNvSpPr/>
          <p:nvPr/>
        </p:nvSpPr>
        <p:spPr>
          <a:xfrm>
            <a:off x="6144768" y="2788920"/>
            <a:ext cx="2633472" cy="1325880"/>
          </a:xfrm>
          <a:prstGeom prst="rect">
            <a:avLst/>
          </a:prstGeom>
          <a:solidFill>
            <a:srgbClr val="FFFFFF"/>
          </a:solidFill>
          <a:ln w="2032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1"/>
          <p:cNvSpPr/>
          <p:nvPr/>
        </p:nvSpPr>
        <p:spPr>
          <a:xfrm>
            <a:off x="6144768" y="2788920"/>
            <a:ext cx="2633472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2"/>
          <p:cNvSpPr/>
          <p:nvPr/>
        </p:nvSpPr>
        <p:spPr>
          <a:xfrm>
            <a:off x="6236208" y="28803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53"/>
          <p:cNvSpPr/>
          <p:nvPr/>
        </p:nvSpPr>
        <p:spPr>
          <a:xfrm>
            <a:off x="6236208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8156448" y="2862072"/>
            <a:ext cx="548640" cy="54864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456" y="2926080"/>
            <a:ext cx="420624" cy="420624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6236208" y="33375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150" dirty="0"/>
          </a:p>
        </p:txBody>
      </p:sp>
      <p:sp>
        <p:nvSpPr>
          <p:cNvPr id="67" name="Text 56"/>
          <p:cNvSpPr/>
          <p:nvPr/>
        </p:nvSpPr>
        <p:spPr>
          <a:xfrm>
            <a:off x="6236208" y="38130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explainer</a:t>
            </a:r>
            <a:endParaRPr lang="en-US" sz="900" dirty="0"/>
          </a:p>
        </p:txBody>
      </p:sp>
      <p:sp>
        <p:nvSpPr>
          <p:cNvPr id="68" name="Text 5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82880"/>
            <a:ext cx="182880" cy="2286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37160"/>
            <a:ext cx="155448" cy="19202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28600"/>
            <a:ext cx="173736" cy="21945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57200" y="1463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3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Explanation Pipeline</a:t>
            </a:r>
            <a:endParaRPr lang="en-US" sz="2700" dirty="0"/>
          </a:p>
        </p:txBody>
      </p:sp>
      <p:sp>
        <p:nvSpPr>
          <p:cNvPr id="10" name="Shape 4"/>
          <p:cNvSpPr/>
          <p:nvPr/>
        </p:nvSpPr>
        <p:spPr>
          <a:xfrm>
            <a:off x="347472" y="1115568"/>
            <a:ext cx="1938528" cy="1719072"/>
          </a:xfrm>
          <a:prstGeom prst="rect">
            <a:avLst/>
          </a:prstGeom>
          <a:solidFill>
            <a:srgbClr val="0D2240"/>
          </a:solidFill>
          <a:ln w="2032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5"/>
          <p:cNvSpPr/>
          <p:nvPr/>
        </p:nvSpPr>
        <p:spPr>
          <a:xfrm>
            <a:off x="347472" y="1115568"/>
            <a:ext cx="1938528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6"/>
          <p:cNvSpPr/>
          <p:nvPr/>
        </p:nvSpPr>
        <p:spPr>
          <a:xfrm>
            <a:off x="950976" y="1261872"/>
            <a:ext cx="731520" cy="731520"/>
          </a:xfrm>
          <a:prstGeom prst="ellipse">
            <a:avLst/>
          </a:prstGeom>
          <a:solidFill>
            <a:srgbClr val="0EA5E9">
              <a:alpha val="20000"/>
            </a:srgbClr>
          </a:solidFill>
          <a:ln w="19050">
            <a:solidFill>
              <a:srgbClr val="0EA5E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1380744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2336" y="2066544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236829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9"/>
          <p:cNvSpPr/>
          <p:nvPr/>
        </p:nvSpPr>
        <p:spPr>
          <a:xfrm rot="2700000">
            <a:off x="258775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0"/>
          <p:cNvSpPr/>
          <p:nvPr/>
        </p:nvSpPr>
        <p:spPr>
          <a:xfrm rot="-2700000">
            <a:off x="258775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1"/>
          <p:cNvSpPr/>
          <p:nvPr/>
        </p:nvSpPr>
        <p:spPr>
          <a:xfrm>
            <a:off x="2496312" y="1115568"/>
            <a:ext cx="1938528" cy="1719072"/>
          </a:xfrm>
          <a:prstGeom prst="rect">
            <a:avLst/>
          </a:prstGeom>
          <a:solidFill>
            <a:srgbClr val="0D2240"/>
          </a:solidFill>
          <a:ln w="2032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2"/>
          <p:cNvSpPr/>
          <p:nvPr/>
        </p:nvSpPr>
        <p:spPr>
          <a:xfrm>
            <a:off x="2496312" y="1115568"/>
            <a:ext cx="1938528" cy="50292"/>
          </a:xfrm>
          <a:prstGeom prst="rect">
            <a:avLst/>
          </a:prstGeom>
          <a:solidFill>
            <a:srgbClr val="7B5CFA"/>
          </a:solidFill>
          <a:ln w="1270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3"/>
          <p:cNvSpPr/>
          <p:nvPr/>
        </p:nvSpPr>
        <p:spPr>
          <a:xfrm>
            <a:off x="3099816" y="1261872"/>
            <a:ext cx="731520" cy="731520"/>
          </a:xfrm>
          <a:prstGeom prst="ellipse">
            <a:avLst/>
          </a:prstGeom>
          <a:solidFill>
            <a:srgbClr val="7B5CFA">
              <a:alpha val="20000"/>
            </a:srgbClr>
          </a:solidFill>
          <a:ln w="19050">
            <a:solidFill>
              <a:srgbClr val="7B5C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1380744"/>
            <a:ext cx="502920" cy="5029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551176" y="2066544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451713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6"/>
          <p:cNvSpPr/>
          <p:nvPr/>
        </p:nvSpPr>
        <p:spPr>
          <a:xfrm rot="2700000">
            <a:off x="473659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7"/>
          <p:cNvSpPr/>
          <p:nvPr/>
        </p:nvSpPr>
        <p:spPr>
          <a:xfrm rot="-2700000">
            <a:off x="473659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8"/>
          <p:cNvSpPr/>
          <p:nvPr/>
        </p:nvSpPr>
        <p:spPr>
          <a:xfrm>
            <a:off x="4645152" y="1115568"/>
            <a:ext cx="1938528" cy="1719072"/>
          </a:xfrm>
          <a:prstGeom prst="rect">
            <a:avLst/>
          </a:prstGeom>
          <a:solidFill>
            <a:srgbClr val="0D2240"/>
          </a:solidFill>
          <a:ln w="2032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19"/>
          <p:cNvSpPr/>
          <p:nvPr/>
        </p:nvSpPr>
        <p:spPr>
          <a:xfrm>
            <a:off x="4645152" y="1115568"/>
            <a:ext cx="1938528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5248656" y="1261872"/>
            <a:ext cx="731520" cy="731520"/>
          </a:xfrm>
          <a:prstGeom prst="ellipse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7528" y="1380744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00016" y="2066544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66597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3"/>
          <p:cNvSpPr/>
          <p:nvPr/>
        </p:nvSpPr>
        <p:spPr>
          <a:xfrm rot="2700000">
            <a:off x="688543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4"/>
          <p:cNvSpPr/>
          <p:nvPr/>
        </p:nvSpPr>
        <p:spPr>
          <a:xfrm rot="-2700000">
            <a:off x="688543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6793992" y="1115568"/>
            <a:ext cx="1938528" cy="1719072"/>
          </a:xfrm>
          <a:prstGeom prst="rect">
            <a:avLst/>
          </a:prstGeom>
          <a:solidFill>
            <a:srgbClr val="0D2240"/>
          </a:solidFill>
          <a:ln w="203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6"/>
          <p:cNvSpPr/>
          <p:nvPr/>
        </p:nvSpPr>
        <p:spPr>
          <a:xfrm>
            <a:off x="6793992" y="1115568"/>
            <a:ext cx="193852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7"/>
          <p:cNvSpPr/>
          <p:nvPr/>
        </p:nvSpPr>
        <p:spPr>
          <a:xfrm>
            <a:off x="7397496" y="1261872"/>
            <a:ext cx="731520" cy="73152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6368" y="1380744"/>
            <a:ext cx="502920" cy="5029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48856" y="2066544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365760" y="2999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 Includes: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365760" y="3337560"/>
            <a:ext cx="4096512" cy="420624"/>
          </a:xfrm>
          <a:prstGeom prst="rect">
            <a:avLst/>
          </a:prstGeom>
          <a:solidFill>
            <a:srgbClr val="0D2240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1"/>
          <p:cNvSpPr/>
          <p:nvPr/>
        </p:nvSpPr>
        <p:spPr>
          <a:xfrm>
            <a:off x="365760" y="3337560"/>
            <a:ext cx="50292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3392424"/>
            <a:ext cx="310896" cy="31089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59536" y="33375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Rankings</a:t>
            </a:r>
            <a:endParaRPr lang="en-US" sz="1150" dirty="0"/>
          </a:p>
        </p:txBody>
      </p:sp>
      <p:sp>
        <p:nvSpPr>
          <p:cNvPr id="44" name="Shape 33"/>
          <p:cNvSpPr/>
          <p:nvPr/>
        </p:nvSpPr>
        <p:spPr>
          <a:xfrm>
            <a:off x="4773168" y="3337560"/>
            <a:ext cx="4096512" cy="420624"/>
          </a:xfrm>
          <a:prstGeom prst="rect">
            <a:avLst/>
          </a:prstGeom>
          <a:solidFill>
            <a:srgbClr val="0D2240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4"/>
          <p:cNvSpPr/>
          <p:nvPr/>
        </p:nvSpPr>
        <p:spPr>
          <a:xfrm>
            <a:off x="4773168" y="3337560"/>
            <a:ext cx="50292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2896" y="3392424"/>
            <a:ext cx="310896" cy="310896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266944" y="33375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&amp; Living Costs</a:t>
            </a:r>
            <a:endParaRPr lang="en-US" sz="1150" dirty="0"/>
          </a:p>
        </p:txBody>
      </p:sp>
      <p:sp>
        <p:nvSpPr>
          <p:cNvPr id="48" name="Shape 36"/>
          <p:cNvSpPr/>
          <p:nvPr/>
        </p:nvSpPr>
        <p:spPr>
          <a:xfrm>
            <a:off x="365760" y="3867912"/>
            <a:ext cx="4096512" cy="420624"/>
          </a:xfrm>
          <a:prstGeom prst="rect">
            <a:avLst/>
          </a:prstGeom>
          <a:solidFill>
            <a:srgbClr val="0D2240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37"/>
          <p:cNvSpPr/>
          <p:nvPr/>
        </p:nvSpPr>
        <p:spPr>
          <a:xfrm>
            <a:off x="365760" y="3867912"/>
            <a:ext cx="50292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" y="3922776"/>
            <a:ext cx="310896" cy="310896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859536" y="386791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&amp; GPA Match</a:t>
            </a:r>
            <a:endParaRPr lang="en-US" sz="1150" dirty="0"/>
          </a:p>
        </p:txBody>
      </p:sp>
      <p:sp>
        <p:nvSpPr>
          <p:cNvPr id="52" name="Shape 39"/>
          <p:cNvSpPr/>
          <p:nvPr/>
        </p:nvSpPr>
        <p:spPr>
          <a:xfrm>
            <a:off x="4773168" y="3867912"/>
            <a:ext cx="4096512" cy="420624"/>
          </a:xfrm>
          <a:prstGeom prst="rect">
            <a:avLst/>
          </a:prstGeom>
          <a:solidFill>
            <a:srgbClr val="0D2240"/>
          </a:solidFill>
          <a:ln w="1524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0"/>
          <p:cNvSpPr/>
          <p:nvPr/>
        </p:nvSpPr>
        <p:spPr>
          <a:xfrm>
            <a:off x="4773168" y="3867912"/>
            <a:ext cx="50292" cy="420624"/>
          </a:xfrm>
          <a:prstGeom prst="rect">
            <a:avLst/>
          </a:prstGeom>
          <a:solidFill>
            <a:srgbClr val="7B5CFA"/>
          </a:solidFill>
          <a:ln w="1270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3922776"/>
            <a:ext cx="310896" cy="310896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266944" y="386791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Probability</a:t>
            </a:r>
            <a:endParaRPr lang="en-US" sz="1150" dirty="0"/>
          </a:p>
        </p:txBody>
      </p:sp>
      <p:sp>
        <p:nvSpPr>
          <p:cNvPr id="56" name="Shape 42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07152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43"/>
          <p:cNvSpPr/>
          <p:nvPr/>
        </p:nvSpPr>
        <p:spPr>
          <a:xfrm>
            <a:off x="548640" y="46451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Hugging Face — natural language explanations for every recommendation</a:t>
            </a:r>
            <a:endParaRPr lang="en-US" sz="950" dirty="0"/>
          </a:p>
        </p:txBody>
      </p:sp>
      <p:sp>
        <p:nvSpPr>
          <p:cNvPr id="58" name="Text 44"/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BB8F4-AEC2-42DF-C6EA-A72F9177A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C0DC267-E7D6-AAAF-B010-41FCB54BD2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3BDB543-A1DC-4BB9-200E-1C185856B0B7}"/>
              </a:ext>
            </a:extLst>
          </p:cNvPr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4D43DD76-1A43-1A54-2BBA-05E999011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82880"/>
            <a:ext cx="182880" cy="22860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8BF54ACF-944B-D1CB-A447-E36FDEE45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37160"/>
            <a:ext cx="155448" cy="192024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B23544BB-85A6-2477-7B18-798DD0849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28600"/>
            <a:ext cx="173736" cy="219456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71B41D71-4256-C5A1-9F06-59CBF6ECE9E2}"/>
              </a:ext>
            </a:extLst>
          </p:cNvPr>
          <p:cNvSpPr/>
          <p:nvPr/>
        </p:nvSpPr>
        <p:spPr>
          <a:xfrm>
            <a:off x="457200" y="1463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·INTERFACE</a:t>
            </a:r>
            <a:endParaRPr lang="en-US" sz="9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29238D34-3EA2-546E-F5DF-EFA5977BFC46}"/>
              </a:ext>
            </a:extLst>
          </p:cNvPr>
          <p:cNvSpPr/>
          <p:nvPr/>
        </p:nvSpPr>
        <p:spPr>
          <a:xfrm>
            <a:off x="236829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48E96AD9-64C0-816A-8362-B97B8B5CBCBD}"/>
              </a:ext>
            </a:extLst>
          </p:cNvPr>
          <p:cNvSpPr/>
          <p:nvPr/>
        </p:nvSpPr>
        <p:spPr>
          <a:xfrm rot="2700000">
            <a:off x="258775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E1730C56-CEB3-94AC-9D35-D79BF6070C44}"/>
              </a:ext>
            </a:extLst>
          </p:cNvPr>
          <p:cNvSpPr/>
          <p:nvPr/>
        </p:nvSpPr>
        <p:spPr>
          <a:xfrm rot="-2700000">
            <a:off x="258775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A5D6D015-7E1E-6900-4AD0-B334CDAD7F90}"/>
              </a:ext>
            </a:extLst>
          </p:cNvPr>
          <p:cNvSpPr/>
          <p:nvPr/>
        </p:nvSpPr>
        <p:spPr>
          <a:xfrm>
            <a:off x="451713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09908DB7-5E87-2096-8616-EBF148BC41CD}"/>
              </a:ext>
            </a:extLst>
          </p:cNvPr>
          <p:cNvSpPr/>
          <p:nvPr/>
        </p:nvSpPr>
        <p:spPr>
          <a:xfrm rot="2700000">
            <a:off x="473659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B377C0E9-CB18-2BB5-988F-0E7FF2D00240}"/>
              </a:ext>
            </a:extLst>
          </p:cNvPr>
          <p:cNvSpPr/>
          <p:nvPr/>
        </p:nvSpPr>
        <p:spPr>
          <a:xfrm rot="-2700000">
            <a:off x="473659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6DFFEB9D-0DDE-9E91-F370-CCB1CA4887A0}"/>
              </a:ext>
            </a:extLst>
          </p:cNvPr>
          <p:cNvSpPr/>
          <p:nvPr/>
        </p:nvSpPr>
        <p:spPr>
          <a:xfrm>
            <a:off x="666597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5992D5E5-411C-6BCF-961C-ADD9DDC83F86}"/>
              </a:ext>
            </a:extLst>
          </p:cNvPr>
          <p:cNvSpPr/>
          <p:nvPr/>
        </p:nvSpPr>
        <p:spPr>
          <a:xfrm rot="2700000">
            <a:off x="688543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F69B0684-6AC3-2574-E822-EACCBDDE13EE}"/>
              </a:ext>
            </a:extLst>
          </p:cNvPr>
          <p:cNvSpPr/>
          <p:nvPr/>
        </p:nvSpPr>
        <p:spPr>
          <a:xfrm rot="-2700000">
            <a:off x="688543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44">
            <a:extLst>
              <a:ext uri="{FF2B5EF4-FFF2-40B4-BE49-F238E27FC236}">
                <a16:creationId xmlns:a16="http://schemas.microsoft.com/office/drawing/2014/main" id="{1A4063EA-A9FE-2495-056E-D9536007D069}"/>
              </a:ext>
            </a:extLst>
          </p:cNvPr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4856AE19-B18B-675F-9472-744A788391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351" y="475488"/>
            <a:ext cx="8450763" cy="43080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5270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B7A1F-25C6-9B67-D3B1-99F365A7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5B15AB2-2D1E-67FE-EEF1-7E7500FCEC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9D5727F-D5B2-D4C1-DFF0-54DF5580A274}"/>
              </a:ext>
            </a:extLst>
          </p:cNvPr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C7CABB7-1F86-6244-8F5E-AD75B5EC5C59}"/>
              </a:ext>
            </a:extLst>
          </p:cNvPr>
          <p:cNvSpPr/>
          <p:nvPr/>
        </p:nvSpPr>
        <p:spPr>
          <a:xfrm>
            <a:off x="457200" y="1463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ECC8F8B5-201D-3C87-1782-E82F77940910}"/>
              </a:ext>
            </a:extLst>
          </p:cNvPr>
          <p:cNvSpPr/>
          <p:nvPr/>
        </p:nvSpPr>
        <p:spPr>
          <a:xfrm>
            <a:off x="236829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F6B1451-906A-F18A-DA4C-C0E95AF4ED92}"/>
              </a:ext>
            </a:extLst>
          </p:cNvPr>
          <p:cNvSpPr/>
          <p:nvPr/>
        </p:nvSpPr>
        <p:spPr>
          <a:xfrm rot="2700000">
            <a:off x="258775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22EE656D-6219-CF37-6914-9A318D2308F6}"/>
              </a:ext>
            </a:extLst>
          </p:cNvPr>
          <p:cNvSpPr/>
          <p:nvPr/>
        </p:nvSpPr>
        <p:spPr>
          <a:xfrm rot="-2700000">
            <a:off x="258775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7E9381B-F556-61FC-0096-884CC788E0B7}"/>
              </a:ext>
            </a:extLst>
          </p:cNvPr>
          <p:cNvSpPr/>
          <p:nvPr/>
        </p:nvSpPr>
        <p:spPr>
          <a:xfrm>
            <a:off x="451713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B92CDAF4-E339-8501-E359-F791B26507DE}"/>
              </a:ext>
            </a:extLst>
          </p:cNvPr>
          <p:cNvSpPr/>
          <p:nvPr/>
        </p:nvSpPr>
        <p:spPr>
          <a:xfrm rot="2700000">
            <a:off x="473659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8CA0A2BD-3EB9-2574-7489-88EA141D69F6}"/>
              </a:ext>
            </a:extLst>
          </p:cNvPr>
          <p:cNvSpPr/>
          <p:nvPr/>
        </p:nvSpPr>
        <p:spPr>
          <a:xfrm rot="-2700000">
            <a:off x="473659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C3736C71-E22F-6712-1C2C-FC37C746C007}"/>
              </a:ext>
            </a:extLst>
          </p:cNvPr>
          <p:cNvSpPr/>
          <p:nvPr/>
        </p:nvSpPr>
        <p:spPr>
          <a:xfrm>
            <a:off x="666597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DE62B016-5C3C-E966-1C65-E7BC1EE18A70}"/>
              </a:ext>
            </a:extLst>
          </p:cNvPr>
          <p:cNvSpPr/>
          <p:nvPr/>
        </p:nvSpPr>
        <p:spPr>
          <a:xfrm rot="2700000">
            <a:off x="688543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6415C239-E08C-3B6F-CAEA-5F3AF14D403E}"/>
              </a:ext>
            </a:extLst>
          </p:cNvPr>
          <p:cNvSpPr/>
          <p:nvPr/>
        </p:nvSpPr>
        <p:spPr>
          <a:xfrm rot="-2700000">
            <a:off x="688543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44">
            <a:extLst>
              <a:ext uri="{FF2B5EF4-FFF2-40B4-BE49-F238E27FC236}">
                <a16:creationId xmlns:a16="http://schemas.microsoft.com/office/drawing/2014/main" id="{E1E931D3-3AAF-AC3E-CDA0-D22AB02432E4}"/>
              </a:ext>
            </a:extLst>
          </p:cNvPr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CE702E-0588-8C51-4139-2F853C9DF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40" y="203283"/>
            <a:ext cx="8818919" cy="4439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62740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6E161-6F40-3068-C726-072BA552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A365C0F-0DBA-72C9-EB81-F874DF082D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36D70C6-DC3D-870B-6F9B-4274258E32CB}"/>
              </a:ext>
            </a:extLst>
          </p:cNvPr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7F83527-AE2C-25A8-A9A1-FA6E0AA4D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82880"/>
            <a:ext cx="182880" cy="22860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2CEF4F06-DA5A-19E6-22EF-1A288644A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37160"/>
            <a:ext cx="155448" cy="192024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0A9F40CD-2ED4-D812-DA8E-1114A3EC4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28600"/>
            <a:ext cx="173736" cy="219456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170F0677-A958-8AF6-4047-E9FC4E55AFA4}"/>
              </a:ext>
            </a:extLst>
          </p:cNvPr>
          <p:cNvSpPr/>
          <p:nvPr/>
        </p:nvSpPr>
        <p:spPr>
          <a:xfrm>
            <a:off x="457200" y="1463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D9E163FA-213C-AC58-B096-35D3F349818E}"/>
              </a:ext>
            </a:extLst>
          </p:cNvPr>
          <p:cNvSpPr/>
          <p:nvPr/>
        </p:nvSpPr>
        <p:spPr>
          <a:xfrm>
            <a:off x="236829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3F17813-1BC6-7450-365A-52CB3E8884C8}"/>
              </a:ext>
            </a:extLst>
          </p:cNvPr>
          <p:cNvSpPr/>
          <p:nvPr/>
        </p:nvSpPr>
        <p:spPr>
          <a:xfrm rot="2700000">
            <a:off x="258775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4AA37BD8-55B7-CBA4-19FF-443DC9709BD8}"/>
              </a:ext>
            </a:extLst>
          </p:cNvPr>
          <p:cNvSpPr/>
          <p:nvPr/>
        </p:nvSpPr>
        <p:spPr>
          <a:xfrm rot="-2700000">
            <a:off x="258775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33CCFF08-538C-5E5D-628D-5A84C0A39E41}"/>
              </a:ext>
            </a:extLst>
          </p:cNvPr>
          <p:cNvSpPr/>
          <p:nvPr/>
        </p:nvSpPr>
        <p:spPr>
          <a:xfrm>
            <a:off x="451713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D49C6EAC-45F1-BFFF-22F3-3FDDDA3AB4EC}"/>
              </a:ext>
            </a:extLst>
          </p:cNvPr>
          <p:cNvSpPr/>
          <p:nvPr/>
        </p:nvSpPr>
        <p:spPr>
          <a:xfrm rot="2700000">
            <a:off x="473659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B562C292-7F01-F7B5-90BF-5FCDD63A2335}"/>
              </a:ext>
            </a:extLst>
          </p:cNvPr>
          <p:cNvSpPr/>
          <p:nvPr/>
        </p:nvSpPr>
        <p:spPr>
          <a:xfrm rot="-2700000">
            <a:off x="473659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ABC216D4-D8B2-3638-8354-811C4FB6EA15}"/>
              </a:ext>
            </a:extLst>
          </p:cNvPr>
          <p:cNvSpPr/>
          <p:nvPr/>
        </p:nvSpPr>
        <p:spPr>
          <a:xfrm>
            <a:off x="6665976" y="1956816"/>
            <a:ext cx="310896" cy="3657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BFAFA845-6C43-5C00-F005-C2B094A340B8}"/>
              </a:ext>
            </a:extLst>
          </p:cNvPr>
          <p:cNvSpPr/>
          <p:nvPr/>
        </p:nvSpPr>
        <p:spPr>
          <a:xfrm rot="2700000">
            <a:off x="6885432" y="1892808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8D2EC52E-91D5-E04A-7C7A-08B65CE4237A}"/>
              </a:ext>
            </a:extLst>
          </p:cNvPr>
          <p:cNvSpPr/>
          <p:nvPr/>
        </p:nvSpPr>
        <p:spPr>
          <a:xfrm rot="-2700000">
            <a:off x="6885432" y="1993392"/>
            <a:ext cx="91440" cy="82296"/>
          </a:xfrm>
          <a:prstGeom prst="rect">
            <a:avLst/>
          </a:prstGeom>
          <a:solidFill>
            <a:srgbClr val="2A5090"/>
          </a:solidFill>
          <a:ln w="1270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44">
            <a:extLst>
              <a:ext uri="{FF2B5EF4-FFF2-40B4-BE49-F238E27FC236}">
                <a16:creationId xmlns:a16="http://schemas.microsoft.com/office/drawing/2014/main" id="{7D3E14B9-E156-CFC7-1FD4-0074D9FC7250}"/>
              </a:ext>
            </a:extLst>
          </p:cNvPr>
          <p:cNvSpPr/>
          <p:nvPr/>
        </p:nvSpPr>
        <p:spPr>
          <a:xfrm>
            <a:off x="8046720" y="4828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7F4399-7382-2CA5-6CA9-07CD1A3742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345" y="73640"/>
            <a:ext cx="8770775" cy="49047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8051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14800"/>
            <a:ext cx="9144000" cy="10972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2573"/>
            <a:ext cx="9144000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77240"/>
            <a:ext cx="9144000" cy="34747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00000">
            <a:off x="8019994" y="80363"/>
            <a:ext cx="457200" cy="4572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" y="335542"/>
            <a:ext cx="7498080" cy="0"/>
          </a:xfrm>
          <a:prstGeom prst="line">
            <a:avLst/>
          </a:prstGeom>
          <a:noFill/>
          <a:ln w="10160">
            <a:solidFill>
              <a:srgbClr val="FFFFFF">
                <a:alpha val="35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2"/>
          <p:cNvSpPr/>
          <p:nvPr/>
        </p:nvSpPr>
        <p:spPr>
          <a:xfrm>
            <a:off x="457200" y="73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RESULTS &amp; CONCLUSION</a:t>
            </a:r>
            <a:endParaRPr lang="en-US" sz="900" dirty="0"/>
          </a:p>
        </p:txBody>
      </p:sp>
      <p:sp>
        <p:nvSpPr>
          <p:cNvPr id="9" name="Text 3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Scope</a:t>
            </a:r>
            <a:endParaRPr lang="en-US" sz="2600" dirty="0"/>
          </a:p>
        </p:txBody>
      </p:sp>
      <p:sp>
        <p:nvSpPr>
          <p:cNvPr id="18" name="Shape 12"/>
          <p:cNvSpPr/>
          <p:nvPr/>
        </p:nvSpPr>
        <p:spPr>
          <a:xfrm>
            <a:off x="898425" y="1122426"/>
            <a:ext cx="1938528" cy="1097280"/>
          </a:xfrm>
          <a:prstGeom prst="rect">
            <a:avLst/>
          </a:prstGeom>
          <a:solidFill>
            <a:srgbClr val="FFFFFF"/>
          </a:solidFill>
          <a:ln w="22860">
            <a:solidFill>
              <a:srgbClr val="7B5CFA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897989" y="1128141"/>
            <a:ext cx="1938528" cy="50292"/>
          </a:xfrm>
          <a:prstGeom prst="rect">
            <a:avLst/>
          </a:prstGeom>
          <a:solidFill>
            <a:srgbClr val="7B5CFA"/>
          </a:solidFill>
          <a:ln w="12700">
            <a:solidFill>
              <a:srgbClr val="7B5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>
            <a:spLocks/>
          </p:cNvSpPr>
          <p:nvPr/>
        </p:nvSpPr>
        <p:spPr>
          <a:xfrm>
            <a:off x="886968" y="1295019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B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886968" y="185623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163408" y="1166072"/>
            <a:ext cx="1938528" cy="1097280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6163408" y="1163574"/>
            <a:ext cx="193852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6245352" y="1259586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6163408" y="181965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47472" y="2377440"/>
            <a:ext cx="4041648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347472" y="2377440"/>
            <a:ext cx="4041648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2495298"/>
            <a:ext cx="260604" cy="2606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86968" y="2423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3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852928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04672" y="283464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realistic recommendations</a:t>
            </a:r>
            <a:endParaRPr lang="en-US" sz="11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273552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04672" y="325526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per student profile</a:t>
            </a:r>
            <a:endParaRPr lang="en-US" sz="11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694176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04672" y="367588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explanations via LLM</a:t>
            </a:r>
            <a:endParaRPr lang="en-US" sz="11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114800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04672" y="409651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time: weeks → seconds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4754880" y="2377440"/>
            <a:ext cx="4041648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3B6EA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28"/>
          <p:cNvSpPr/>
          <p:nvPr/>
        </p:nvSpPr>
        <p:spPr>
          <a:xfrm>
            <a:off x="4754880" y="2377440"/>
            <a:ext cx="4041648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2484882"/>
            <a:ext cx="265176" cy="26517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85232" y="2423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2852928"/>
            <a:ext cx="201168" cy="25603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166360" y="2834640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student data integration as students will rely heavily on AI in future</a:t>
            </a:r>
            <a:endParaRPr lang="en-US" sz="11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273552"/>
            <a:ext cx="201168" cy="25603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166360" y="325526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SOP preparation assistant</a:t>
            </a:r>
            <a:endParaRPr lang="en-US" sz="11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3694176"/>
            <a:ext cx="201168" cy="256032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5166360" y="367588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scholarship &amp; ranking updates</a:t>
            </a:r>
            <a:endParaRPr lang="en-US" sz="11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114800"/>
            <a:ext cx="201168" cy="256032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5166360" y="4096512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chatbot interface</a:t>
            </a:r>
            <a:endParaRPr lang="en-US" sz="1100" dirty="0"/>
          </a:p>
        </p:txBody>
      </p:sp>
      <p:sp>
        <p:nvSpPr>
          <p:cNvPr id="50" name="Text 3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322</Words>
  <Application>Microsoft Office PowerPoint</Application>
  <PresentationFormat>On-screen Show (16:9)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Study Abroad Recommendation System</dc:title>
  <dc:subject>PptxGenJS Presentation</dc:subject>
  <dc:creator>PptxGenJS</dc:creator>
  <cp:lastModifiedBy>Durva Palkar</cp:lastModifiedBy>
  <cp:revision>2</cp:revision>
  <dcterms:created xsi:type="dcterms:W3CDTF">2026-05-01T18:52:44Z</dcterms:created>
  <dcterms:modified xsi:type="dcterms:W3CDTF">2026-05-01T20:52:21Z</dcterms:modified>
</cp:coreProperties>
</file>